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703320"/>
            <a:ext cx="12191695" cy="73152"/>
          </a:xfrm>
          <a:prstGeom prst="rect">
            <a:avLst/>
          </a:prstGeom>
          <a:solidFill>
            <a:srgbClr val="2E8B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011680"/>
            <a:ext cx="1054577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Aseguramiento de Calidad (QA)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931920"/>
            <a:ext cx="1054577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2E8B9E"/>
                </a:solidFill>
              </a:defRPr>
            </a:pPr>
            <a:r>
              <a:t>Integración Connecteam → Odoo</a:t>
            </a:r>
          </a:p>
          <a:p>
            <a:pPr>
              <a:defRPr sz="1500">
                <a:solidFill>
                  <a:srgbClr val="C7D3DD"/>
                </a:solidFill>
              </a:defRPr>
            </a:pPr>
            <a:r>
              <a:t>Pruebas automatizadas, defectos encontrados y gestión manual de excepciones</a:t>
            </a:r>
          </a:p>
          <a:p>
            <a:pPr>
              <a:defRPr sz="1200">
                <a:solidFill>
                  <a:srgbClr val="8C9AA6"/>
                </a:solidFill>
              </a:defRPr>
            </a:pPr>
            <a:r>
              <a:t>Mayo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09728" wrap="square"/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Agenda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2E8B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1153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700"/>
              </a:spcAft>
              <a:defRPr sz="1700" b="1">
                <a:solidFill>
                  <a:srgbClr val="242B33"/>
                </a:solidFill>
              </a:defRPr>
            </a:pPr>
            <a:r>
              <a:rPr>
                <a:solidFill>
                  <a:srgbClr val="1F3A5F"/>
                </a:solidFill>
              </a:rPr>
              <a:t>Contexto: qué hace la integración y por qué es delicada</a:t>
            </a:r>
          </a:p>
          <a:p>
            <a:pPr>
              <a:spcBef>
                <a:spcPts val="200"/>
              </a:spcBef>
              <a:spcAft>
                <a:spcPts val="700"/>
              </a:spcAft>
              <a:defRPr sz="1700" b="1">
                <a:solidFill>
                  <a:srgbClr val="242B33"/>
                </a:solidFill>
              </a:defRPr>
            </a:pPr>
            <a:r>
              <a:rPr>
                <a:solidFill>
                  <a:srgbClr val="1F3A5F"/>
                </a:solidFill>
              </a:rPr>
              <a:t>El problema que resolvimos con QA</a:t>
            </a:r>
          </a:p>
          <a:p>
            <a:pPr>
              <a:spcBef>
                <a:spcPts val="200"/>
              </a:spcBef>
              <a:spcAft>
                <a:spcPts val="700"/>
              </a:spcAft>
              <a:defRPr sz="1700" b="1">
                <a:solidFill>
                  <a:srgbClr val="242B33"/>
                </a:solidFill>
              </a:defRPr>
            </a:pPr>
            <a:r>
              <a:rPr>
                <a:solidFill>
                  <a:srgbClr val="1F3A5F"/>
                </a:solidFill>
              </a:rPr>
              <a:t>Estrategia: pirámide de pruebas y el OdooSpy</a:t>
            </a:r>
          </a:p>
          <a:p>
            <a:pPr>
              <a:spcBef>
                <a:spcPts val="200"/>
              </a:spcBef>
              <a:spcAft>
                <a:spcPts val="700"/>
              </a:spcAft>
              <a:defRPr sz="1700" b="1">
                <a:solidFill>
                  <a:srgbClr val="242B33"/>
                </a:solidFill>
              </a:defRPr>
            </a:pPr>
            <a:r>
              <a:rPr>
                <a:solidFill>
                  <a:srgbClr val="1F3A5F"/>
                </a:solidFill>
              </a:rPr>
              <a:t>Resultados y cobertura por módulo</a:t>
            </a:r>
          </a:p>
          <a:p>
            <a:pPr>
              <a:spcBef>
                <a:spcPts val="200"/>
              </a:spcBef>
              <a:spcAft>
                <a:spcPts val="700"/>
              </a:spcAft>
              <a:defRPr sz="1700" b="1">
                <a:solidFill>
                  <a:srgbClr val="242B33"/>
                </a:solidFill>
              </a:defRPr>
            </a:pPr>
            <a:r>
              <a:rPr>
                <a:solidFill>
                  <a:srgbClr val="1F3A5F"/>
                </a:solidFill>
              </a:rPr>
              <a:t>Validación contra el Odoo real (incluye movimiento de equipos)</a:t>
            </a:r>
          </a:p>
          <a:p>
            <a:pPr>
              <a:spcBef>
                <a:spcPts val="200"/>
              </a:spcBef>
              <a:spcAft>
                <a:spcPts val="700"/>
              </a:spcAft>
              <a:defRPr sz="1700" b="1">
                <a:solidFill>
                  <a:srgbClr val="242B33"/>
                </a:solidFill>
              </a:defRPr>
            </a:pPr>
            <a:r>
              <a:rPr>
                <a:solidFill>
                  <a:srgbClr val="1F3A5F"/>
                </a:solidFill>
              </a:rPr>
              <a:t>Defectos encontrados (y corregidos)</a:t>
            </a:r>
          </a:p>
          <a:p>
            <a:pPr>
              <a:spcBef>
                <a:spcPts val="200"/>
              </a:spcBef>
              <a:spcAft>
                <a:spcPts val="700"/>
              </a:spcAft>
              <a:defRPr sz="1700" b="1">
                <a:solidFill>
                  <a:srgbClr val="242B33"/>
                </a:solidFill>
              </a:defRPr>
            </a:pPr>
            <a:r>
              <a:rPr>
                <a:solidFill>
                  <a:srgbClr val="1F3A5F"/>
                </a:solidFill>
              </a:rPr>
              <a:t>Gestión manual de excepciones: el inbox por etiqueta y por tipo de trabajo</a:t>
            </a:r>
          </a:p>
          <a:p>
            <a:pPr>
              <a:spcBef>
                <a:spcPts val="200"/>
              </a:spcBef>
              <a:spcAft>
                <a:spcPts val="700"/>
              </a:spcAft>
              <a:defRPr sz="1700" b="1">
                <a:solidFill>
                  <a:srgbClr val="242B33"/>
                </a:solidFill>
              </a:defRPr>
            </a:pPr>
            <a:r>
              <a:rPr>
                <a:solidFill>
                  <a:srgbClr val="1F3A5F"/>
                </a:solidFill>
              </a:rPr>
              <a:t>Puntos críticos del flujo de datos y brechas pendientes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92240"/>
            <a:ext cx="112772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AA4AE"/>
                </a:solidFill>
              </a:defRPr>
            </a:pPr>
            <a:r>
              <a:t>QA Integración Connecteam → Odoo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09728" wrap="square"/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Contexto: el "secretario virtual"</a:t>
            </a:r>
          </a:p>
          <a:p>
            <a:pPr>
              <a:defRPr sz="1200">
                <a:solidFill>
                  <a:srgbClr val="BFD2DE"/>
                </a:solidFill>
              </a:defRPr>
            </a:pPr>
            <a:r>
              <a:t>Qué hace la integración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2E8B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1153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700"/>
              </a:spcAft>
              <a:defRPr sz="1600" b="1">
                <a:solidFill>
                  <a:srgbClr val="242B33"/>
                </a:solidFill>
              </a:defRPr>
            </a:pPr>
            <a:r>
              <a:rPr>
                <a:solidFill>
                  <a:srgbClr val="1F3A5F"/>
                </a:solidFill>
              </a:rPr>
              <a:t>Pipeline programado que toma los formularios que llenan los técnicos en terreno (Connecteam)</a:t>
            </a:r>
          </a:p>
          <a:p>
            <a:pPr>
              <a:spcBef>
                <a:spcPts val="200"/>
              </a:spcBef>
              <a:spcAft>
                <a:spcPts val="700"/>
              </a:spcAft>
              <a:defRPr sz="1600" b="1">
                <a:solidFill>
                  <a:srgbClr val="242B33"/>
                </a:solidFill>
              </a:defRPr>
            </a:pPr>
            <a:r>
              <a:rPr>
                <a:solidFill>
                  <a:srgbClr val="1F3A5F"/>
                </a:solidFill>
              </a:rPr>
              <a:t>Crea y actualiza órdenes de mantención en Odoo, mueve equipos de ubicación, genera informes PDF y deja avisos</a:t>
            </a:r>
          </a:p>
          <a:p>
            <a:pPr>
              <a:spcBef>
                <a:spcPts val="200"/>
              </a:spcBef>
              <a:spcAft>
                <a:spcPts val="700"/>
              </a:spcAft>
              <a:defRPr sz="1600" b="1">
                <a:solidFill>
                  <a:srgbClr val="242B33"/>
                </a:solidFill>
              </a:defRPr>
            </a:pPr>
            <a:r>
              <a:rPr>
                <a:solidFill>
                  <a:srgbClr val="1F3A5F"/>
                </a:solidFill>
              </a:rPr>
              <a:t>Cinco tipos de trabajo:</a:t>
            </a:r>
          </a:p>
          <a:p>
            <a:pPr lvl="1">
              <a:spcBef>
                <a:spcPts val="200"/>
              </a:spcBef>
              <a:spcAft>
                <a:spcPts val="700"/>
              </a:spcAft>
              <a:defRPr sz="1400" b="0">
                <a:solidFill>
                  <a:srgbClr val="444C55"/>
                </a:solidFill>
              </a:defRPr>
            </a:pPr>
            <a:r>
              <a:t>– MC = Correctiva · CF = Configuración · MP = Preventiva</a:t>
            </a:r>
          </a:p>
          <a:p>
            <a:pPr lvl="1">
              <a:spcBef>
                <a:spcPts val="200"/>
              </a:spcBef>
              <a:spcAft>
                <a:spcPts val="700"/>
              </a:spcAft>
              <a:defRPr sz="1400" b="0">
                <a:solidFill>
                  <a:srgbClr val="444C55"/>
                </a:solidFill>
              </a:defRPr>
            </a:pPr>
            <a:r>
              <a:t>– I = Instalación · R = Reemplazo/Extracción</a:t>
            </a:r>
          </a:p>
          <a:p>
            <a:pPr>
              <a:spcBef>
                <a:spcPts val="200"/>
              </a:spcBef>
              <a:spcAft>
                <a:spcPts val="700"/>
              </a:spcAft>
              <a:defRPr sz="1600" b="1">
                <a:solidFill>
                  <a:srgbClr val="242B33"/>
                </a:solidFill>
              </a:defRPr>
            </a:pPr>
            <a:r>
              <a:rPr>
                <a:solidFill>
                  <a:srgbClr val="1F3A5F"/>
                </a:solidFill>
              </a:rPr>
              <a:t>El núcleo es processor.py: ~4.500 líneas en una sola función</a:t>
            </a:r>
          </a:p>
          <a:p>
            <a:pPr>
              <a:spcBef>
                <a:spcPts val="200"/>
              </a:spcBef>
              <a:spcAft>
                <a:spcPts val="700"/>
              </a:spcAft>
              <a:defRPr sz="1600" b="1">
                <a:solidFill>
                  <a:srgbClr val="242B33"/>
                </a:solidFill>
              </a:defRPr>
            </a:pPr>
            <a:r>
              <a:rPr>
                <a:solidFill>
                  <a:srgbClr val="1F3A5F"/>
                </a:solidFill>
              </a:rPr>
              <a:t>Si el secretario se equivoca, hoy no avisa: sigue en silencio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92240"/>
            <a:ext cx="112772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AA4AE"/>
                </a:solidFill>
              </a:defRPr>
            </a:pPr>
            <a:r>
              <a:t>QA Integración Connecteam → Odoo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09728" wrap="square"/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El problema</a:t>
            </a:r>
          </a:p>
          <a:p>
            <a:pPr>
              <a:defRPr sz="1200">
                <a:solidFill>
                  <a:srgbClr val="BFD2DE"/>
                </a:solidFill>
              </a:defRPr>
            </a:pPr>
            <a:r>
              <a:t>Por qué hacía falta QA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2E8B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1153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700"/>
              </a:spcAft>
              <a:defRPr sz="1600" b="1">
                <a:solidFill>
                  <a:srgbClr val="242B33"/>
                </a:solidFill>
              </a:defRPr>
            </a:pPr>
            <a:r>
              <a:rPr>
                <a:solidFill>
                  <a:srgbClr val="1F3A5F"/>
                </a:solidFill>
              </a:rPr>
              <a:t>Sin pruebas y sin linter: cada cambio era a ciegas</a:t>
            </a:r>
          </a:p>
          <a:p>
            <a:pPr>
              <a:spcBef>
                <a:spcPts val="200"/>
              </a:spcBef>
              <a:spcAft>
                <a:spcPts val="700"/>
              </a:spcAft>
              <a:defRPr sz="1600" b="1">
                <a:solidFill>
                  <a:srgbClr val="242B33"/>
                </a:solidFill>
              </a:defRPr>
            </a:pPr>
            <a:r>
              <a:rPr>
                <a:solidFill>
                  <a:srgbClr val="1F3A5F"/>
                </a:solidFill>
              </a:rPr>
              <a:t>Escribe en Odoo vía XML-RPC: los errores tienen efectos reales</a:t>
            </a:r>
          </a:p>
          <a:p>
            <a:pPr>
              <a:spcBef>
                <a:spcPts val="200"/>
              </a:spcBef>
              <a:spcAft>
                <a:spcPts val="700"/>
              </a:spcAft>
              <a:defRPr sz="1600" b="1">
                <a:solidFill>
                  <a:srgbClr val="242B33"/>
                </a:solidFill>
              </a:defRPr>
            </a:pPr>
            <a:r>
              <a:rPr>
                <a:solidFill>
                  <a:srgbClr val="1F3A5F"/>
                </a:solidFill>
              </a:rPr>
              <a:t>Falla en silencio: el patrón try/except + continue traga el error y continúa</a:t>
            </a:r>
          </a:p>
          <a:p>
            <a:pPr lvl="1">
              <a:spcBef>
                <a:spcPts val="200"/>
              </a:spcBef>
              <a:spcAft>
                <a:spcPts val="700"/>
              </a:spcAft>
              <a:defRPr sz="1400" b="0">
                <a:solidFill>
                  <a:srgbClr val="444C55"/>
                </a:solidFill>
              </a:defRPr>
            </a:pPr>
            <a:r>
              <a:t>– Una OT puede "procesarse" y no crear nada, sin que nadie se entere</a:t>
            </a:r>
          </a:p>
          <a:p>
            <a:pPr>
              <a:spcBef>
                <a:spcPts val="200"/>
              </a:spcBef>
              <a:spcAft>
                <a:spcPts val="700"/>
              </a:spcAft>
              <a:defRPr sz="1600" b="1">
                <a:solidFill>
                  <a:srgbClr val="242B33"/>
                </a:solidFill>
              </a:defRPr>
            </a:pPr>
            <a:r>
              <a:rPr>
                <a:solidFill>
                  <a:srgbClr val="1F3A5F"/>
                </a:solidFill>
              </a:rPr>
              <a:t>Estado de deduplicación e IDs hardcodeados que son carga útil, no configuración</a:t>
            </a:r>
          </a:p>
          <a:p>
            <a:pPr>
              <a:spcBef>
                <a:spcPts val="200"/>
              </a:spcBef>
              <a:spcAft>
                <a:spcPts val="700"/>
              </a:spcAft>
              <a:defRPr sz="1600" b="1">
                <a:solidFill>
                  <a:srgbClr val="242B33"/>
                </a:solidFill>
              </a:defRPr>
            </a:pPr>
            <a:r>
              <a:rPr>
                <a:solidFill>
                  <a:srgbClr val="1F3A5F"/>
                </a:solidFill>
              </a:rPr>
              <a:t>4.500 líneas de lógica de negocio acoplada y difícil de auditar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92240"/>
            <a:ext cx="112772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AA4AE"/>
                </a:solidFill>
              </a:defRPr>
            </a:pPr>
            <a:r>
              <a:t>QA Integración Connecteam → Odoo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194560"/>
            <a:ext cx="2743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200" b="1">
                <a:solidFill>
                  <a:srgbClr val="2E8B9E"/>
                </a:solidFill>
              </a:defRPr>
            </a:pPr>
            <a: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3200400"/>
            <a:ext cx="1072865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FFFFFF"/>
                </a:solidFill>
              </a:defRPr>
            </a:pPr>
            <a:r>
              <a:t>Estrategia de QA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09728" wrap="square"/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Pirámide de pruebas</a:t>
            </a:r>
          </a:p>
          <a:p>
            <a:pPr>
              <a:defRPr sz="1200">
                <a:solidFill>
                  <a:srgbClr val="BFD2DE"/>
                </a:solidFill>
              </a:defRPr>
            </a:pPr>
            <a:r>
              <a:t>De barato y rápido a caro y realista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2E8B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1153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700"/>
              </a:spcAft>
              <a:defRPr sz="1600" b="1">
                <a:solidFill>
                  <a:srgbClr val="242B33"/>
                </a:solidFill>
              </a:defRPr>
            </a:pPr>
            <a:r>
              <a:rPr>
                <a:solidFill>
                  <a:srgbClr val="1F3A5F"/>
                </a:solidFill>
              </a:rPr>
              <a:t>L0 Estático: imports válidos, inventario de IDs hardcodeados</a:t>
            </a:r>
          </a:p>
          <a:p>
            <a:pPr>
              <a:spcBef>
                <a:spcPts val="200"/>
              </a:spcBef>
              <a:spcAft>
                <a:spcPts val="700"/>
              </a:spcAft>
              <a:defRPr sz="1600" b="1">
                <a:solidFill>
                  <a:srgbClr val="242B33"/>
                </a:solidFill>
              </a:defRPr>
            </a:pPr>
            <a:r>
              <a:rPr>
                <a:solidFill>
                  <a:srgbClr val="1F3A5F"/>
                </a:solidFill>
              </a:rPr>
              <a:t>L1 Unitario: funciones puras (parsing de respuestas, deduplicación)</a:t>
            </a:r>
          </a:p>
          <a:p>
            <a:pPr>
              <a:spcBef>
                <a:spcPts val="200"/>
              </a:spcBef>
              <a:spcAft>
                <a:spcPts val="700"/>
              </a:spcAft>
              <a:defRPr sz="1600" b="1">
                <a:solidFill>
                  <a:srgbClr val="242B33"/>
                </a:solidFill>
              </a:defRPr>
            </a:pPr>
            <a:r>
              <a:rPr>
                <a:solidFill>
                  <a:srgbClr val="1F3A5F"/>
                </a:solidFill>
              </a:rPr>
              <a:t>L2 Componente: el pipeline completo con un doble de prueba (OdooSpy), sin red</a:t>
            </a:r>
          </a:p>
          <a:p>
            <a:pPr lvl="1">
              <a:spcBef>
                <a:spcPts val="200"/>
              </a:spcBef>
              <a:spcAft>
                <a:spcPts val="700"/>
              </a:spcAft>
              <a:defRPr sz="1400" b="0">
                <a:solidFill>
                  <a:srgbClr val="444C55"/>
                </a:solidFill>
              </a:defRPr>
            </a:pPr>
            <a:r>
              <a:t>– Aquí está el grueso de la cobertura: todas las ramas de decisión</a:t>
            </a:r>
          </a:p>
          <a:p>
            <a:pPr>
              <a:spcBef>
                <a:spcPts val="200"/>
              </a:spcBef>
              <a:spcAft>
                <a:spcPts val="700"/>
              </a:spcAft>
              <a:defRPr sz="1600" b="1">
                <a:solidFill>
                  <a:srgbClr val="242B33"/>
                </a:solidFill>
              </a:defRPr>
            </a:pPr>
            <a:r>
              <a:rPr>
                <a:solidFill>
                  <a:srgbClr val="1F3A5F"/>
                </a:solidFill>
              </a:rPr>
              <a:t>L3 Integración: contra el Odoo de pruebas real (staging)</a:t>
            </a:r>
          </a:p>
          <a:p>
            <a:pPr>
              <a:spcBef>
                <a:spcPts val="200"/>
              </a:spcBef>
              <a:spcAft>
                <a:spcPts val="700"/>
              </a:spcAft>
              <a:defRPr sz="1600" b="1">
                <a:solidFill>
                  <a:srgbClr val="242B33"/>
                </a:solidFill>
              </a:defRPr>
            </a:pPr>
            <a:r>
              <a:rPr>
                <a:solidFill>
                  <a:srgbClr val="1F3A5F"/>
                </a:solidFill>
              </a:rPr>
              <a:t>Regla de oro: nunca aceptar "no dio error". Siempre afirmar el efecto concreto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92240"/>
            <a:ext cx="112772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AA4AE"/>
                </a:solidFill>
              </a:defRPr>
            </a:pPr>
            <a:r>
              <a:t>QA Integración Connecteam → Odoo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09728" wrap="square"/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El OdooSpy</a:t>
            </a:r>
          </a:p>
          <a:p>
            <a:pPr>
              <a:defRPr sz="1200">
                <a:solidFill>
                  <a:srgbClr val="BFD2DE"/>
                </a:solidFill>
              </a:defRPr>
            </a:pPr>
            <a:r>
              <a:t>Cómo probamos sin tocar Odoo ni esperar la red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2E8B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1153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700"/>
              </a:spcAft>
              <a:defRPr sz="1600" b="1">
                <a:solidFill>
                  <a:srgbClr val="242B33"/>
                </a:solidFill>
              </a:defRPr>
            </a:pPr>
            <a:r>
              <a:rPr>
                <a:solidFill>
                  <a:srgbClr val="1F3A5F"/>
                </a:solidFill>
              </a:rPr>
              <a:t>Un doble de prueba que imita la interfaz de OdooClient</a:t>
            </a:r>
          </a:p>
          <a:p>
            <a:pPr>
              <a:spcBef>
                <a:spcPts val="200"/>
              </a:spcBef>
              <a:spcAft>
                <a:spcPts val="700"/>
              </a:spcAft>
              <a:defRPr sz="1600" b="1">
                <a:solidFill>
                  <a:srgbClr val="242B33"/>
                </a:solidFill>
              </a:defRPr>
            </a:pPr>
            <a:r>
              <a:rPr>
                <a:solidFill>
                  <a:srgbClr val="1F3A5F"/>
                </a:solidFill>
              </a:rPr>
              <a:t>Registra cada llamada (create / write / search / message_post...)</a:t>
            </a:r>
          </a:p>
          <a:p>
            <a:pPr>
              <a:spcBef>
                <a:spcPts val="200"/>
              </a:spcBef>
              <a:spcAft>
                <a:spcPts val="700"/>
              </a:spcAft>
              <a:defRPr sz="1600" b="1">
                <a:solidFill>
                  <a:srgbClr val="242B33"/>
                </a:solidFill>
              </a:defRPr>
            </a:pPr>
            <a:r>
              <a:rPr>
                <a:solidFill>
                  <a:srgbClr val="1F3A5F"/>
                </a:solidFill>
              </a:rPr>
              <a:t>Devuelve respuestas programables: le decimos "el equipo existe y está aquí"</a:t>
            </a:r>
          </a:p>
          <a:p>
            <a:pPr>
              <a:spcBef>
                <a:spcPts val="200"/>
              </a:spcBef>
              <a:spcAft>
                <a:spcPts val="700"/>
              </a:spcAft>
              <a:defRPr sz="1600" b="1">
                <a:solidFill>
                  <a:srgbClr val="242B33"/>
                </a:solidFill>
              </a:defRPr>
            </a:pPr>
            <a:r>
              <a:rPr>
                <a:solidFill>
                  <a:srgbClr val="1F3A5F"/>
                </a:solidFill>
              </a:rPr>
              <a:t>Permite simular cualquier estado de Odoo y luego revisar qué órdenes dio el secretario</a:t>
            </a:r>
          </a:p>
          <a:p>
            <a:pPr>
              <a:spcBef>
                <a:spcPts val="200"/>
              </a:spcBef>
              <a:spcAft>
                <a:spcPts val="700"/>
              </a:spcAft>
              <a:defRPr sz="1600" b="1">
                <a:solidFill>
                  <a:srgbClr val="242B33"/>
                </a:solidFill>
              </a:defRPr>
            </a:pPr>
            <a:r>
              <a:rPr>
                <a:solidFill>
                  <a:srgbClr val="1F3A5F"/>
                </a:solidFill>
              </a:rPr>
              <a:t>Resultado: se cubren todas las decisiones posibles, de forma rápida y determinista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92240"/>
            <a:ext cx="112772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AA4AE"/>
                </a:solidFill>
              </a:defRPr>
            </a:pPr>
            <a:r>
              <a:t>QA Integración Connecteam → Odoo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194560"/>
            <a:ext cx="2743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200" b="1">
                <a:solidFill>
                  <a:srgbClr val="2E8B9E"/>
                </a:solidFill>
              </a:defRPr>
            </a:pPr>
            <a: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3200400"/>
            <a:ext cx="1072865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FFFFFF"/>
                </a:solidFill>
              </a:defRPr>
            </a:pPr>
            <a:r>
              <a:t>Resultados y cobertura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09728" wrap="square"/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Resultados: 77 pruebas verdes</a:t>
            </a:r>
          </a:p>
          <a:p>
            <a:pPr>
              <a:defRPr sz="1200">
                <a:solidFill>
                  <a:srgbClr val="BFD2DE"/>
                </a:solidFill>
              </a:defRPr>
            </a:pPr>
            <a:r>
              <a:t>Estado verificado · evidencia en RESULTADOS.md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2E8B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828800"/>
          <a:ext cx="1106424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1463040"/>
                <a:gridCol w="6858000"/>
              </a:tblGrid>
              <a:tr h="36576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Nivel</a:t>
                      </a:r>
                    </a:p>
                  </a:txBody>
                  <a:tcPr anchor="ctr" marL="73152" marR="73152" marT="27432" marB="27432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Pruebas</a:t>
                      </a:r>
                    </a:p>
                  </a:txBody>
                  <a:tcPr anchor="ctr" marL="73152" marR="73152" marT="27432" marB="27432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Qué cubre</a:t>
                      </a:r>
                    </a:p>
                  </a:txBody>
                  <a:tcPr anchor="ctr" marL="73152" marR="73152" marT="27432" marB="27432">
                    <a:solidFill>
                      <a:srgbClr val="1F3A5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42B33"/>
                          </a:solidFill>
                        </a:defRPr>
                      </a:pPr>
                      <a:r>
                        <a:t>L1 Unitario</a:t>
                      </a:r>
                    </a:p>
                  </a:txBody>
                  <a:tcPr anchor="ctr" marL="73152" marR="73152" marT="27432" marB="27432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42B33"/>
                          </a:solidFill>
                        </a:defRPr>
                      </a:pPr>
                      <a:r>
                        <a:t>12</a:t>
                      </a:r>
                    </a:p>
                  </a:txBody>
                  <a:tcPr anchor="ctr" marL="73152" marR="73152" marT="27432" marB="27432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42B33"/>
                          </a:solidFill>
                        </a:defRPr>
                      </a:pPr>
                      <a:r>
                        <a:t>Parsing de respuestas + deduplicación (DB aislada)</a:t>
                      </a:r>
                    </a:p>
                  </a:txBody>
                  <a:tcPr anchor="ctr" marL="73152" marR="73152" marT="27432" marB="27432">
                    <a:solidFill>
                      <a:srgbClr val="F7F9F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42B33"/>
                          </a:solidFill>
                        </a:defRPr>
                      </a:pPr>
                      <a:r>
                        <a:t>L2 Componente</a:t>
                      </a:r>
                    </a:p>
                  </a:txBody>
                  <a:tcPr anchor="ctr" marL="73152" marR="73152" marT="27432" marB="27432"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42B33"/>
                          </a:solidFill>
                        </a:defRPr>
                      </a:pPr>
                      <a:r>
                        <a:t>46</a:t>
                      </a:r>
                    </a:p>
                  </a:txBody>
                  <a:tcPr anchor="ctr" marL="73152" marR="73152" marT="27432" marB="27432"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42B33"/>
                          </a:solidFill>
                        </a:defRPr>
                      </a:pPr>
                      <a:r>
                        <a:t>Todas las ramas de los 5 módulos (con OdooSpy)</a:t>
                      </a:r>
                    </a:p>
                  </a:txBody>
                  <a:tcPr anchor="ctr" marL="73152" marR="73152" marT="27432" marB="27432">
                    <a:solidFill>
                      <a:srgbClr val="EEF1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42B33"/>
                          </a:solidFill>
                        </a:defRPr>
                      </a:pPr>
                      <a:r>
                        <a:t>L3 Integración</a:t>
                      </a:r>
                    </a:p>
                  </a:txBody>
                  <a:tcPr anchor="ctr" marL="73152" marR="73152" marT="27432" marB="27432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42B33"/>
                          </a:solidFill>
                        </a:defRPr>
                      </a:pPr>
                      <a:r>
                        <a:t>19</a:t>
                      </a:r>
                    </a:p>
                  </a:txBody>
                  <a:tcPr anchor="ctr" marL="73152" marR="73152" marT="27432" marB="27432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42B33"/>
                          </a:solidFill>
                        </a:defRPr>
                      </a:pPr>
                      <a:r>
                        <a:t>4 de solo lectura + 15 E2E que escriben en el staging</a:t>
                      </a:r>
                    </a:p>
                  </a:txBody>
                  <a:tcPr anchor="ctr" marL="73152" marR="73152" marT="27432" marB="27432">
                    <a:solidFill>
                      <a:srgbClr val="F7F9F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42B33"/>
                          </a:solidFill>
                        </a:defRPr>
                      </a:pPr>
                      <a:r>
                        <a:t>TOTAL</a:t>
                      </a:r>
                    </a:p>
                  </a:txBody>
                  <a:tcPr anchor="ctr" marL="73152" marR="73152" marT="27432" marB="27432"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42B33"/>
                          </a:solidFill>
                        </a:defRPr>
                      </a:pPr>
                      <a:r>
                        <a:t>77</a:t>
                      </a:r>
                    </a:p>
                  </a:txBody>
                  <a:tcPr anchor="ctr" marL="73152" marR="73152" marT="27432" marB="27432"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42B33"/>
                          </a:solidFill>
                        </a:defRPr>
                      </a:pPr>
                      <a:r>
                        <a:t>Todas en verde</a:t>
                      </a:r>
                    </a:p>
                  </a:txBody>
                  <a:tcPr anchor="ctr" marL="73152" marR="73152" marT="27432" marB="27432">
                    <a:solidFill>
                      <a:srgbClr val="EEF1F5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6492240"/>
            <a:ext cx="112772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AA4AE"/>
                </a:solidFill>
              </a:defRPr>
            </a:pPr>
            <a:r>
              <a:t>QA Integración Connecteam → Odoo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09728" wrap="square"/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Cobertura por módulo (L2)</a:t>
            </a:r>
          </a:p>
          <a:p>
            <a:pPr>
              <a:defRPr sz="1200">
                <a:solidFill>
                  <a:srgbClr val="BFD2DE"/>
                </a:solidFill>
              </a:defRPr>
            </a:pPr>
            <a:r>
              <a:t>Cada tipo de trabajo, todas sus ramas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2E8B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737360"/>
          <a:ext cx="1106424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1280160"/>
                <a:gridCol w="6858000"/>
              </a:tblGrid>
              <a:tr h="36576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Módulo</a:t>
                      </a:r>
                    </a:p>
                  </a:txBody>
                  <a:tcPr anchor="ctr" marL="73152" marR="73152" marT="27432" marB="27432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Tests</a:t>
                      </a:r>
                    </a:p>
                  </a:txBody>
                  <a:tcPr anchor="ctr" marL="73152" marR="73152" marT="27432" marB="27432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Lógica distintiva probada</a:t>
                      </a:r>
                    </a:p>
                  </a:txBody>
                  <a:tcPr anchor="ctr" marL="73152" marR="73152" marT="27432" marB="27432">
                    <a:solidFill>
                      <a:srgbClr val="1F3A5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42B33"/>
                          </a:solidFill>
                        </a:defRPr>
                      </a:pPr>
                      <a:r>
                        <a:t>MC  Correctiva</a:t>
                      </a:r>
                    </a:p>
                  </a:txBody>
                  <a:tcPr anchor="ctr" marL="73152" marR="73152" marT="27432" marB="27432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42B33"/>
                          </a:solidFill>
                        </a:defRPr>
                      </a:pPr>
                      <a:r>
                        <a:t>12</a:t>
                      </a:r>
                    </a:p>
                  </a:txBody>
                  <a:tcPr anchor="ctr" marL="73152" marR="73152" marT="27432" marB="27432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42B33"/>
                          </a:solidFill>
                        </a:defRPr>
                      </a:pPr>
                      <a:r>
                        <a:t>Interruptor: vincular a activa vs crear</a:t>
                      </a:r>
                    </a:p>
                  </a:txBody>
                  <a:tcPr anchor="ctr" marL="73152" marR="73152" marT="27432" marB="27432">
                    <a:solidFill>
                      <a:srgbClr val="F7F9F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42B33"/>
                          </a:solidFill>
                        </a:defRPr>
                      </a:pPr>
                      <a:r>
                        <a:t>CF  Configuración</a:t>
                      </a:r>
                    </a:p>
                  </a:txBody>
                  <a:tcPr anchor="ctr" marL="73152" marR="73152" marT="27432" marB="27432"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42B33"/>
                          </a:solidFill>
                        </a:defRPr>
                      </a:pPr>
                      <a:r>
                        <a:t>9</a:t>
                      </a:r>
                    </a:p>
                  </a:txBody>
                  <a:tcPr anchor="ctr" marL="73152" marR="73152" marT="27432" marB="27432"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42B33"/>
                          </a:solidFill>
                        </a:defRPr>
                      </a:pPr>
                      <a:r>
                        <a:t>Proximidad temporal + archivar anteriores</a:t>
                      </a:r>
                    </a:p>
                  </a:txBody>
                  <a:tcPr anchor="ctr" marL="73152" marR="73152" marT="27432" marB="27432">
                    <a:solidFill>
                      <a:srgbClr val="EEF1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42B33"/>
                          </a:solidFill>
                        </a:defRPr>
                      </a:pPr>
                      <a:r>
                        <a:t>MP  Preventiva</a:t>
                      </a:r>
                    </a:p>
                  </a:txBody>
                  <a:tcPr anchor="ctr" marL="73152" marR="73152" marT="27432" marB="27432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42B33"/>
                          </a:solidFill>
                        </a:defRPr>
                      </a:pPr>
                      <a:r>
                        <a:t>9</a:t>
                      </a:r>
                    </a:p>
                  </a:txBody>
                  <a:tcPr anchor="ctr" marL="73152" marR="73152" marT="27432" marB="27432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42B33"/>
                          </a:solidFill>
                        </a:defRPr>
                      </a:pPr>
                      <a:r>
                        <a:t>Proximidad + archivado + 'sin plan'</a:t>
                      </a:r>
                    </a:p>
                  </a:txBody>
                  <a:tcPr anchor="ctr" marL="73152" marR="73152" marT="27432" marB="27432">
                    <a:solidFill>
                      <a:srgbClr val="F7F9F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42B33"/>
                          </a:solidFill>
                        </a:defRPr>
                      </a:pPr>
                      <a:r>
                        <a:t>I   Instalación</a:t>
                      </a:r>
                    </a:p>
                  </a:txBody>
                  <a:tcPr anchor="ctr" marL="73152" marR="73152" marT="27432" marB="27432"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42B33"/>
                          </a:solidFill>
                        </a:defRPr>
                      </a:pPr>
                      <a:r>
                        <a:t>9</a:t>
                      </a:r>
                    </a:p>
                  </a:txBody>
                  <a:tcPr anchor="ctr" marL="73152" marR="73152" marT="27432" marB="27432"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42B33"/>
                          </a:solidFill>
                        </a:defRPr>
                      </a:pPr>
                      <a:r>
                        <a:t>Primera activa + escribe ubicación del equipo</a:t>
                      </a:r>
                    </a:p>
                  </a:txBody>
                  <a:tcPr anchor="ctr" marL="73152" marR="73152" marT="27432" marB="27432">
                    <a:solidFill>
                      <a:srgbClr val="EEF1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42B33"/>
                          </a:solidFill>
                        </a:defRPr>
                      </a:pPr>
                      <a:r>
                        <a:t>R   Reemplazo</a:t>
                      </a:r>
                    </a:p>
                  </a:txBody>
                  <a:tcPr anchor="ctr" marL="73152" marR="73152" marT="27432" marB="27432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42B33"/>
                          </a:solidFill>
                        </a:defRPr>
                      </a:pPr>
                      <a:r>
                        <a:t>7</a:t>
                      </a:r>
                    </a:p>
                  </a:txBody>
                  <a:tcPr anchor="ctr" marL="73152" marR="73152" marT="27432" marB="27432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42B33"/>
                          </a:solidFill>
                        </a:defRPr>
                      </a:pPr>
                      <a:r>
                        <a:t>Bifásico (E/I) + mueve equipo + Metrocal</a:t>
                      </a:r>
                    </a:p>
                  </a:txBody>
                  <a:tcPr anchor="ctr" marL="73152" marR="73152" marT="27432" marB="27432">
                    <a:solidFill>
                      <a:srgbClr val="F7F9FB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4937760"/>
            <a:ext cx="10911535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700"/>
              </a:spcAft>
              <a:defRPr sz="1300" b="1">
                <a:solidFill>
                  <a:srgbClr val="242B33"/>
                </a:solidFill>
              </a:defRPr>
            </a:pPr>
            <a:r>
              <a:rPr>
                <a:solidFill>
                  <a:srgbClr val="1F3A5F"/>
                </a:solidFill>
              </a:rPr>
              <a:t>Ramas comunes cubiertas: S/N no encontrado, punto inexistente, validación de ubicación, crear vs actualizar, operativo Sí/No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112772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AA4AE"/>
                </a:solidFill>
              </a:defRPr>
            </a:pPr>
            <a:r>
              <a:t>QA Integración Connecteam → Odoo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09728" wrap="square"/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Validación contra el Odoo real</a:t>
            </a:r>
          </a:p>
          <a:p>
            <a:pPr>
              <a:defRPr sz="1200">
                <a:solidFill>
                  <a:srgbClr val="BFD2DE"/>
                </a:solidFill>
              </a:defRPr>
            </a:pPr>
            <a:r>
              <a:t>Staging: escribe de verdad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2E8B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1153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700"/>
              </a:spcAft>
              <a:defRPr sz="1400" b="1">
                <a:solidFill>
                  <a:srgbClr val="242B33"/>
                </a:solidFill>
              </a:defRPr>
            </a:pPr>
            <a:r>
              <a:rPr>
                <a:solidFill>
                  <a:srgbClr val="1F3A5F"/>
                </a:solidFill>
              </a:rPr>
              <a:t>19 pruebas contra el test-Odoo (instancia de staging)</a:t>
            </a:r>
          </a:p>
          <a:p>
            <a:pPr>
              <a:spcBef>
                <a:spcPts val="200"/>
              </a:spcBef>
              <a:spcAft>
                <a:spcPts val="700"/>
              </a:spcAft>
              <a:defRPr sz="1400" b="1">
                <a:solidFill>
                  <a:srgbClr val="242B33"/>
                </a:solidFill>
              </a:defRPr>
            </a:pPr>
            <a:r>
              <a:rPr>
                <a:solidFill>
                  <a:srgbClr val="1F3A5F"/>
                </a:solidFill>
              </a:rPr>
              <a:t>4 de solo lectura: autenticación + verificación de IDs hardcodeados (partners, Metrocal 2, 593/594)</a:t>
            </a:r>
          </a:p>
          <a:p>
            <a:pPr>
              <a:spcBef>
                <a:spcPts val="200"/>
              </a:spcBef>
              <a:spcAft>
                <a:spcPts val="700"/>
              </a:spcAft>
              <a:defRPr sz="1400" b="1">
                <a:solidFill>
                  <a:srgbClr val="242B33"/>
                </a:solidFill>
              </a:defRPr>
            </a:pPr>
            <a:r>
              <a:rPr>
                <a:solidFill>
                  <a:srgbClr val="1F3A5F"/>
                </a:solidFill>
              </a:rPr>
              <a:t>15 E2E de escritura que ejecutan el pipeline de punta a punta:</a:t>
            </a:r>
          </a:p>
          <a:p>
            <a:pPr lvl="1">
              <a:spcBef>
                <a:spcPts val="200"/>
              </a:spcBef>
              <a:spcAft>
                <a:spcPts val="700"/>
              </a:spcAft>
              <a:defRPr sz="1200" b="0">
                <a:solidFill>
                  <a:srgbClr val="444C55"/>
                </a:solidFill>
              </a:defRPr>
            </a:pPr>
            <a:r>
              <a:t>– Camino feliz por módulo + movimiento real de ubicación (I → punto; R → 593 / 594 / punto)</a:t>
            </a:r>
          </a:p>
          <a:p>
            <a:pPr lvl="1">
              <a:spcBef>
                <a:spcPts val="200"/>
              </a:spcBef>
              <a:spcAft>
                <a:spcPts val="700"/>
              </a:spcAft>
              <a:defRPr sz="1200" b="0">
                <a:solidFill>
                  <a:srgbClr val="444C55"/>
                </a:solidFill>
              </a:defRPr>
            </a:pPr>
            <a:r>
              <a:t>– Enrutamiento de excepciones al inbox (S/N no encontrado, Punto no existe)</a:t>
            </a:r>
          </a:p>
          <a:p>
            <a:pPr lvl="1">
              <a:spcBef>
                <a:spcPts val="200"/>
              </a:spcBef>
              <a:spcAft>
                <a:spcPts val="700"/>
              </a:spcAft>
              <a:defRPr sz="1200" b="0">
                <a:solidFill>
                  <a:srgbClr val="444C55"/>
                </a:solidFill>
              </a:defRPr>
            </a:pPr>
            <a:r>
              <a:t>– operativo=No (stage 3 + adjunto), vincular a existente, proximidad + archivado</a:t>
            </a:r>
          </a:p>
          <a:p>
            <a:pPr>
              <a:spcBef>
                <a:spcPts val="200"/>
              </a:spcBef>
              <a:spcAft>
                <a:spcPts val="700"/>
              </a:spcAft>
              <a:defRPr sz="1400" b="1">
                <a:solidFill>
                  <a:srgbClr val="242B33"/>
                </a:solidFill>
              </a:defRPr>
            </a:pPr>
            <a:r>
              <a:rPr>
                <a:solidFill>
                  <a:srgbClr val="1F3A5F"/>
                </a:solidFill>
              </a:rPr>
              <a:t>El reporte vincula los 42 registros reales creados con la prueba que los originó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92240"/>
            <a:ext cx="112772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AA4AE"/>
                </a:solidFill>
              </a:defRPr>
            </a:pPr>
            <a:r>
              <a:t>QA Integración Connecteam → Odoo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09728" wrap="square"/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Defectos encontrados</a:t>
            </a:r>
          </a:p>
          <a:p>
            <a:pPr>
              <a:defRPr sz="1200">
                <a:solidFill>
                  <a:srgbClr val="BFD2DE"/>
                </a:solidFill>
              </a:defRPr>
            </a:pPr>
            <a:r>
              <a:t>El valor real del QA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2E8B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1153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700"/>
              </a:spcAft>
              <a:defRPr sz="1500" b="1">
                <a:solidFill>
                  <a:srgbClr val="242B33"/>
                </a:solidFill>
              </a:defRPr>
            </a:pPr>
            <a:r>
              <a:rPr>
                <a:solidFill>
                  <a:srgbClr val="1F3A5F"/>
                </a:solidFill>
              </a:rPr>
              <a:t>OBS-10 (CORREGIDO): NameError en Instalación-no-operativa</a:t>
            </a:r>
          </a:p>
          <a:p>
            <a:pPr lvl="1">
              <a:spcBef>
                <a:spcPts val="200"/>
              </a:spcBef>
              <a:spcAft>
                <a:spcPts val="700"/>
              </a:spcAft>
              <a:defRPr sz="1300" b="0">
                <a:solidFill>
                  <a:srgbClr val="444C55"/>
                </a:solidFill>
              </a:defRPr>
            </a:pPr>
            <a:r>
              <a:t>– El request se creaba pero se perdían en silencio el registro de éxito y el PDF</a:t>
            </a:r>
          </a:p>
          <a:p>
            <a:pPr lvl="1">
              <a:spcBef>
                <a:spcPts val="200"/>
              </a:spcBef>
              <a:spcAft>
                <a:spcPts val="700"/>
              </a:spcAft>
              <a:defRPr sz="1300" b="0">
                <a:solidFill>
                  <a:srgbClr val="444C55"/>
                </a:solidFill>
              </a:defRPr>
            </a:pPr>
            <a:r>
              <a:t>– Eran dos instancias del mismo bug; ambas corregidas</a:t>
            </a:r>
          </a:p>
          <a:p>
            <a:pPr>
              <a:spcBef>
                <a:spcPts val="200"/>
              </a:spcBef>
              <a:spcAft>
                <a:spcPts val="700"/>
              </a:spcAft>
              <a:defRPr sz="1500" b="1">
                <a:solidFill>
                  <a:srgbClr val="242B33"/>
                </a:solidFill>
              </a:defRPr>
            </a:pPr>
            <a:r>
              <a:rPr>
                <a:solidFill>
                  <a:srgbClr val="1F3A5F"/>
                </a:solidFill>
              </a:rPr>
              <a:t>Otras 9 observaciones documentadas con su caso testigo:</a:t>
            </a:r>
          </a:p>
          <a:p>
            <a:pPr lvl="1">
              <a:spcBef>
                <a:spcPts val="200"/>
              </a:spcBef>
              <a:spcAft>
                <a:spcPts val="700"/>
              </a:spcAft>
              <a:defRPr sz="1300" b="0">
                <a:solidFill>
                  <a:srgbClr val="444C55"/>
                </a:solidFill>
              </a:defRPr>
            </a:pPr>
            <a:r>
              <a:t>– Punto de dos dígitos mal detectado, posible doble conversión de zona horaria</a:t>
            </a:r>
          </a:p>
          <a:p>
            <a:pPr lvl="1">
              <a:spcBef>
                <a:spcPts val="200"/>
              </a:spcBef>
              <a:spcAft>
                <a:spcPts val="700"/>
              </a:spcAft>
              <a:defRPr sz="1300" b="0">
                <a:solidFill>
                  <a:srgbClr val="444C55"/>
                </a:solidFill>
              </a:defRPr>
            </a:pPr>
            <a:r>
              <a:t>– Columnas duplicadas en R, mapas de IDs que difieren prod/test, 'sin plan' de MP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92240"/>
            <a:ext cx="112772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AA4AE"/>
                </a:solidFill>
              </a:defRPr>
            </a:pPr>
            <a:r>
              <a:t>QA Integración Connecteam → Odoo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194560"/>
            <a:ext cx="2743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200" b="1">
                <a:solidFill>
                  <a:srgbClr val="2E8B9E"/>
                </a:solidFill>
              </a:defRPr>
            </a:pPr>
            <a: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3200400"/>
            <a:ext cx="1072865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FFFFFF"/>
                </a:solidFill>
              </a:defRPr>
            </a:pPr>
            <a:r>
              <a:t>Gestión manual de excepciones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09728" wrap="square"/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El inbox y los tres orígenes</a:t>
            </a:r>
          </a:p>
          <a:p>
            <a:pPr>
              <a:defRPr sz="1200">
                <a:solidFill>
                  <a:srgbClr val="BFD2DE"/>
                </a:solidFill>
              </a:defRPr>
            </a:pPr>
            <a:r>
              <a:t>Cuánto debe hacer el operario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2E8B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1153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700"/>
              </a:spcAft>
              <a:defRPr sz="1600" b="1">
                <a:solidFill>
                  <a:srgbClr val="242B33"/>
                </a:solidFill>
              </a:defRPr>
            </a:pPr>
            <a:r>
              <a:rPr>
                <a:solidFill>
                  <a:srgbClr val="1F3A5F"/>
                </a:solidFill>
              </a:rPr>
              <a:t>Cuando el secretario no puede actuar, deja un registro en x_inbox_integracion</a:t>
            </a:r>
          </a:p>
          <a:p>
            <a:pPr>
              <a:spcBef>
                <a:spcPts val="200"/>
              </a:spcBef>
              <a:spcAft>
                <a:spcPts val="700"/>
              </a:spcAft>
              <a:defRPr sz="1600" b="1">
                <a:solidFill>
                  <a:srgbClr val="242B33"/>
                </a:solidFill>
              </a:defRPr>
            </a:pPr>
            <a:r>
              <a:rPr>
                <a:solidFill>
                  <a:srgbClr val="1F3A5F"/>
                </a:solidFill>
              </a:rPr>
              <a:t>Cada registro tiene una etiqueta (qué pasó) y un origen (cuánto hay que intervenir):</a:t>
            </a:r>
          </a:p>
          <a:p>
            <a:pPr lvl="1">
              <a:spcBef>
                <a:spcPts val="200"/>
              </a:spcBef>
              <a:spcAft>
                <a:spcPts val="700"/>
              </a:spcAft>
              <a:defRPr sz="1400" b="0">
                <a:solidFill>
                  <a:srgbClr val="444C55"/>
                </a:solidFill>
              </a:defRPr>
            </a:pPr>
            <a:r>
              <a:t>– A · Automática: el secretario resolvió todo. Sin acción</a:t>
            </a:r>
          </a:p>
          <a:p>
            <a:pPr lvl="1">
              <a:spcBef>
                <a:spcPts val="200"/>
              </a:spcBef>
              <a:spcAft>
                <a:spcPts val="700"/>
              </a:spcAft>
              <a:defRPr sz="1400" b="0">
                <a:solidFill>
                  <a:srgbClr val="444C55"/>
                </a:solidFill>
              </a:defRPr>
            </a:pPr>
            <a:r>
              <a:t>– M · Manual: el secretario NO pudo. El operario ejecuta lo que faltó</a:t>
            </a:r>
          </a:p>
          <a:p>
            <a:pPr lvl="1">
              <a:spcBef>
                <a:spcPts val="200"/>
              </a:spcBef>
              <a:spcAft>
                <a:spcPts val="700"/>
              </a:spcAft>
              <a:defRPr sz="1400" b="0">
                <a:solidFill>
                  <a:srgbClr val="444C55"/>
                </a:solidFill>
              </a:defRPr>
            </a:pPr>
            <a:r>
              <a:t>– N · Notificación: el secretario ya actuó. El operario solo valida</a:t>
            </a:r>
          </a:p>
          <a:p>
            <a:pPr>
              <a:spcBef>
                <a:spcPts val="200"/>
              </a:spcBef>
              <a:spcAft>
                <a:spcPts val="700"/>
              </a:spcAft>
              <a:defRPr sz="1600" b="1">
                <a:solidFill>
                  <a:srgbClr val="242B33"/>
                </a:solidFill>
              </a:defRPr>
            </a:pPr>
            <a:r>
              <a:rPr>
                <a:solidFill>
                  <a:srgbClr val="1F3A5F"/>
                </a:solidFill>
              </a:rPr>
              <a:t>Followers notificados automáticamente; 'Creación en espera' avisa a Juan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92240"/>
            <a:ext cx="112772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AA4AE"/>
                </a:solidFill>
              </a:defRPr>
            </a:pPr>
            <a:r>
              <a:t>QA Integración Connecteam → Odoo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09728" wrap="square"/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Flujos manuales por etiqueta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2E8B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54480"/>
          <a:ext cx="1106424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74720"/>
                <a:gridCol w="1188720"/>
                <a:gridCol w="6400800"/>
              </a:tblGrid>
              <a:tr h="36576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Etiqueta</a:t>
                      </a:r>
                    </a:p>
                  </a:txBody>
                  <a:tcPr anchor="ctr" marL="73152" marR="73152" marT="27432" marB="27432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Origen</a:t>
                      </a:r>
                    </a:p>
                  </a:txBody>
                  <a:tcPr anchor="ctr" marL="73152" marR="73152" marT="27432" marB="27432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Acción del operario</a:t>
                      </a:r>
                    </a:p>
                  </a:txBody>
                  <a:tcPr anchor="ctr" marL="73152" marR="73152" marT="27432" marB="27432">
                    <a:solidFill>
                      <a:srgbClr val="1F3A5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42B33"/>
                          </a:solidFill>
                        </a:defRPr>
                      </a:pPr>
                      <a:r>
                        <a:t>S/N no encontrado</a:t>
                      </a:r>
                    </a:p>
                  </a:txBody>
                  <a:tcPr anchor="ctr" marL="73152" marR="73152" marT="27432" marB="27432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42B33"/>
                          </a:solidFill>
                        </a:defRPr>
                      </a:pPr>
                      <a:r>
                        <a:t>M</a:t>
                      </a:r>
                    </a:p>
                  </a:txBody>
                  <a:tcPr anchor="ctr" marL="73152" marR="73152" marT="27432" marB="27432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42B33"/>
                          </a:solidFill>
                        </a:defRPr>
                      </a:pPr>
                      <a:r>
                        <a:t>Crear el equipo (o vincular) y el evento</a:t>
                      </a:r>
                    </a:p>
                  </a:txBody>
                  <a:tcPr anchor="ctr" marL="73152" marR="73152" marT="27432" marB="27432">
                    <a:solidFill>
                      <a:srgbClr val="F7F9F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42B33"/>
                          </a:solidFill>
                        </a:defRPr>
                      </a:pPr>
                      <a:r>
                        <a:t>Creación en espera</a:t>
                      </a:r>
                    </a:p>
                  </a:txBody>
                  <a:tcPr anchor="ctr" marL="73152" marR="73152" marT="27432" marB="27432"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42B33"/>
                          </a:solidFill>
                        </a:defRPr>
                      </a:pPr>
                      <a:r>
                        <a:t>M</a:t>
                      </a:r>
                    </a:p>
                  </a:txBody>
                  <a:tcPr anchor="ctr" marL="73152" marR="73152" marT="27432" marB="27432"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42B33"/>
                          </a:solidFill>
                        </a:defRPr>
                      </a:pPr>
                      <a:r>
                        <a:t>Esperar transferencia; Juan crea el equipo</a:t>
                      </a:r>
                    </a:p>
                  </a:txBody>
                  <a:tcPr anchor="ctr" marL="73152" marR="73152" marT="27432" marB="27432">
                    <a:solidFill>
                      <a:srgbClr val="EEF1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42B33"/>
                          </a:solidFill>
                        </a:defRPr>
                      </a:pPr>
                      <a:r>
                        <a:t>Punto no existe en sistema</a:t>
                      </a:r>
                    </a:p>
                  </a:txBody>
                  <a:tcPr anchor="ctr" marL="73152" marR="73152" marT="27432" marB="27432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42B33"/>
                          </a:solidFill>
                        </a:defRPr>
                      </a:pPr>
                      <a:r>
                        <a:t>M</a:t>
                      </a:r>
                    </a:p>
                  </a:txBody>
                  <a:tcPr anchor="ctr" marL="73152" marR="73152" marT="27432" marB="27432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42B33"/>
                          </a:solidFill>
                        </a:defRPr>
                      </a:pPr>
                      <a:r>
                        <a:t>Solicitar/crear el punto o vincular al correcto</a:t>
                      </a:r>
                    </a:p>
                  </a:txBody>
                  <a:tcPr anchor="ctr" marL="73152" marR="73152" marT="27432" marB="27432">
                    <a:solidFill>
                      <a:srgbClr val="F7F9F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42B33"/>
                          </a:solidFill>
                        </a:defRPr>
                      </a:pPr>
                      <a:r>
                        <a:t>Cambio de ubicación</a:t>
                      </a:r>
                    </a:p>
                  </a:txBody>
                  <a:tcPr anchor="ctr" marL="73152" marR="73152" marT="27432" marB="27432"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42B33"/>
                          </a:solidFill>
                        </a:defRPr>
                      </a:pPr>
                      <a:r>
                        <a:t>N</a:t>
                      </a:r>
                    </a:p>
                  </a:txBody>
                  <a:tcPr anchor="ctr" marL="73152" marR="73152" marT="27432" marB="27432"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42B33"/>
                          </a:solidFill>
                        </a:defRPr>
                      </a:pPr>
                      <a:r>
                        <a:t>Validar punto y fecha en el equipo</a:t>
                      </a:r>
                    </a:p>
                  </a:txBody>
                  <a:tcPr anchor="ctr" marL="73152" marR="73152" marT="27432" marB="27432">
                    <a:solidFill>
                      <a:srgbClr val="EEF1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42B33"/>
                          </a:solidFill>
                        </a:defRPr>
                      </a:pPr>
                      <a:r>
                        <a:t>Sin evento de instalación</a:t>
                      </a:r>
                    </a:p>
                  </a:txBody>
                  <a:tcPr anchor="ctr" marL="73152" marR="73152" marT="27432" marB="27432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42B33"/>
                          </a:solidFill>
                        </a:defRPr>
                      </a:pPr>
                      <a:r>
                        <a:t>N</a:t>
                      </a:r>
                    </a:p>
                  </a:txBody>
                  <a:tcPr anchor="ctr" marL="73152" marR="73152" marT="27432" marB="27432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42B33"/>
                          </a:solidFill>
                        </a:defRPr>
                      </a:pPr>
                      <a:r>
                        <a:t>Validar por qué el equipo no tenía instalación</a:t>
                      </a:r>
                    </a:p>
                  </a:txBody>
                  <a:tcPr anchor="ctr" marL="73152" marR="73152" marT="27432" marB="27432">
                    <a:solidFill>
                      <a:srgbClr val="F7F9FB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6492240"/>
            <a:ext cx="112772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AA4AE"/>
                </a:solidFill>
              </a:defRPr>
            </a:pPr>
            <a:r>
              <a:t>QA Integración Connecteam → Odoo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09728" wrap="square"/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Acciones manuales por tipo de trabajo</a:t>
            </a:r>
          </a:p>
          <a:p>
            <a:pPr>
              <a:defRPr sz="1200">
                <a:solidFill>
                  <a:srgbClr val="BFD2DE"/>
                </a:solidFill>
              </a:defRPr>
            </a:pPr>
            <a:r>
              <a:t>La distinción clave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2E8B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54480"/>
          <a:ext cx="1106424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6035040"/>
                <a:gridCol w="3566160"/>
              </a:tblGrid>
              <a:tr h="36576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Tipo</a:t>
                      </a:r>
                    </a:p>
                  </a:txBody>
                  <a:tcPr anchor="ctr" marL="73152" marR="73152" marT="27432" marB="27432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Solicitud (vincular vs crear)</a:t>
                      </a:r>
                    </a:p>
                  </a:txBody>
                  <a:tcPr anchor="ctr" marL="73152" marR="73152" marT="27432" marB="27432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¿Mueve el equipo?</a:t>
                      </a:r>
                    </a:p>
                  </a:txBody>
                  <a:tcPr anchor="ctr" marL="73152" marR="73152" marT="27432" marB="27432">
                    <a:solidFill>
                      <a:srgbClr val="1F3A5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42B33"/>
                          </a:solidFill>
                        </a:defRPr>
                      </a:pPr>
                      <a:r>
                        <a:t>MC</a:t>
                      </a:r>
                    </a:p>
                  </a:txBody>
                  <a:tcPr anchor="ctr" marL="73152" marR="73152" marT="27432" marB="27432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42B33"/>
                          </a:solidFill>
                        </a:defRPr>
                      </a:pPr>
                      <a:r>
                        <a:t>Interruptor (vincular activa o crear)</a:t>
                      </a:r>
                    </a:p>
                  </a:txBody>
                  <a:tcPr anchor="ctr" marL="73152" marR="73152" marT="27432" marB="27432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42B33"/>
                          </a:solidFill>
                        </a:defRPr>
                      </a:pPr>
                      <a:r>
                        <a:t>No</a:t>
                      </a:r>
                    </a:p>
                  </a:txBody>
                  <a:tcPr anchor="ctr" marL="73152" marR="73152" marT="27432" marB="27432">
                    <a:solidFill>
                      <a:srgbClr val="F7F9F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42B33"/>
                          </a:solidFill>
                        </a:defRPr>
                      </a:pPr>
                      <a:r>
                        <a:t>CF / MP</a:t>
                      </a:r>
                    </a:p>
                  </a:txBody>
                  <a:tcPr anchor="ctr" marL="73152" marR="73152" marT="27432" marB="27432"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42B33"/>
                          </a:solidFill>
                        </a:defRPr>
                      </a:pPr>
                      <a:r>
                        <a:t>Proximidad temporal + archivar viejas</a:t>
                      </a:r>
                    </a:p>
                  </a:txBody>
                  <a:tcPr anchor="ctr" marL="73152" marR="73152" marT="27432" marB="27432"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42B33"/>
                          </a:solidFill>
                        </a:defRPr>
                      </a:pPr>
                      <a:r>
                        <a:t>No</a:t>
                      </a:r>
                    </a:p>
                  </a:txBody>
                  <a:tcPr anchor="ctr" marL="73152" marR="73152" marT="27432" marB="27432">
                    <a:solidFill>
                      <a:srgbClr val="EEF1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42B33"/>
                          </a:solidFill>
                        </a:defRPr>
                      </a:pPr>
                      <a:r>
                        <a:t>I</a:t>
                      </a:r>
                    </a:p>
                  </a:txBody>
                  <a:tcPr anchor="ctr" marL="73152" marR="73152" marT="27432" marB="27432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42B33"/>
                          </a:solidFill>
                        </a:defRPr>
                      </a:pPr>
                      <a:r>
                        <a:t>Primera activa o crear</a:t>
                      </a:r>
                    </a:p>
                  </a:txBody>
                  <a:tcPr anchor="ctr" marL="73152" marR="73152" marT="27432" marB="27432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42B33"/>
                          </a:solidFill>
                        </a:defRPr>
                      </a:pPr>
                      <a:r>
                        <a:t>Sí → al punto</a:t>
                      </a:r>
                    </a:p>
                  </a:txBody>
                  <a:tcPr anchor="ctr" marL="73152" marR="73152" marT="27432" marB="27432">
                    <a:solidFill>
                      <a:srgbClr val="F7F9F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42B33"/>
                          </a:solidFill>
                        </a:defRPr>
                      </a:pPr>
                      <a:r>
                        <a:t>R</a:t>
                      </a:r>
                    </a:p>
                  </a:txBody>
                  <a:tcPr anchor="ctr" marL="73152" marR="73152" marT="27432" marB="27432"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42B33"/>
                          </a:solidFill>
                        </a:defRPr>
                      </a:pPr>
                      <a:r>
                        <a:t>Extracción / Instalación / Calibración</a:t>
                      </a:r>
                    </a:p>
                  </a:txBody>
                  <a:tcPr anchor="ctr" marL="73152" marR="73152" marT="27432" marB="27432"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42B33"/>
                          </a:solidFill>
                        </a:defRPr>
                      </a:pPr>
                      <a:r>
                        <a:t>Sí → 593 / 594 / punto</a:t>
                      </a:r>
                    </a:p>
                  </a:txBody>
                  <a:tcPr anchor="ctr" marL="73152" marR="73152" marT="27432" marB="27432">
                    <a:solidFill>
                      <a:srgbClr val="EEF1F5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4297680"/>
            <a:ext cx="10911535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700"/>
              </a:spcAft>
              <a:defRPr sz="1400" b="1">
                <a:solidFill>
                  <a:srgbClr val="242B33"/>
                </a:solidFill>
              </a:defRPr>
            </a:pPr>
            <a:r>
              <a:rPr>
                <a:solidFill>
                  <a:srgbClr val="1F3A5F"/>
                </a:solidFill>
              </a:rPr>
              <a:t>MC / CF / MP terminan en la solicitud y nunca tocan el equipo</a:t>
            </a:r>
          </a:p>
          <a:p>
            <a:pPr>
              <a:spcBef>
                <a:spcPts val="200"/>
              </a:spcBef>
              <a:spcAft>
                <a:spcPts val="700"/>
              </a:spcAft>
              <a:defRPr sz="1400" b="1">
                <a:solidFill>
                  <a:srgbClr val="242B33"/>
                </a:solidFill>
              </a:defRPr>
            </a:pPr>
            <a:r>
              <a:rPr>
                <a:solidFill>
                  <a:srgbClr val="1F3A5F"/>
                </a:solidFill>
              </a:rPr>
              <a:t>I y R tienen un paso obligatorio extra sobre maintenance.equipment (la ubicación). En R depende del subtrabajo y la calibración suma a Metrocal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112772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AA4AE"/>
                </a:solidFill>
              </a:defRPr>
            </a:pPr>
            <a:r>
              <a:t>QA Integración Connecteam → Odoo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194560"/>
            <a:ext cx="2743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200" b="1">
                <a:solidFill>
                  <a:srgbClr val="2E8B9E"/>
                </a:solidFill>
              </a:defRPr>
            </a:pPr>
            <a: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3200400"/>
            <a:ext cx="1072865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FFFFFF"/>
                </a:solidFill>
              </a:defRPr>
            </a:pPr>
            <a:r>
              <a:t>Puntos críticos del flujo de datos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09728" wrap="square"/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Puntos críticos del flujo de datos</a:t>
            </a:r>
          </a:p>
          <a:p>
            <a:pPr>
              <a:defRPr sz="1200">
                <a:solidFill>
                  <a:srgbClr val="BFD2DE"/>
                </a:solidFill>
              </a:defRPr>
            </a:pPr>
            <a:r>
              <a:t>Dónde se rompe la cadena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2E8B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1153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700"/>
              </a:spcAft>
              <a:defRPr sz="1500" b="1">
                <a:solidFill>
                  <a:srgbClr val="242B33"/>
                </a:solidFill>
              </a:defRPr>
            </a:pPr>
            <a:r>
              <a:rPr>
                <a:solidFill>
                  <a:srgbClr val="1F3A5F"/>
                </a:solidFill>
              </a:rPr>
              <a:t>Convención de columnas del formulario: contrato implícito, sin validación de esquema</a:t>
            </a:r>
          </a:p>
          <a:p>
            <a:pPr>
              <a:spcBef>
                <a:spcPts val="200"/>
              </a:spcBef>
              <a:spcAft>
                <a:spcPts val="700"/>
              </a:spcAft>
              <a:defRPr sz="1500" b="1">
                <a:solidFill>
                  <a:srgbClr val="242B33"/>
                </a:solidFill>
              </a:defRPr>
            </a:pPr>
            <a:r>
              <a:rPr>
                <a:solidFill>
                  <a:srgbClr val="1F3A5F"/>
                </a:solidFill>
              </a:rPr>
              <a:t>Llaves de cruce: número de serie y nombre del punto deben coincidir exacto</a:t>
            </a:r>
          </a:p>
          <a:p>
            <a:pPr>
              <a:spcBef>
                <a:spcPts val="200"/>
              </a:spcBef>
              <a:spcAft>
                <a:spcPts val="700"/>
              </a:spcAft>
              <a:defRPr sz="1500" b="1">
                <a:solidFill>
                  <a:srgbClr val="242B33"/>
                </a:solidFill>
              </a:defRPr>
            </a:pPr>
            <a:r>
              <a:rPr>
                <a:solidFill>
                  <a:srgbClr val="1F3A5F"/>
                </a:solidFill>
              </a:rPr>
              <a:t>Errores silenciosos: hoy un fallo no detiene ni alerta</a:t>
            </a:r>
          </a:p>
          <a:p>
            <a:pPr>
              <a:spcBef>
                <a:spcPts val="200"/>
              </a:spcBef>
              <a:spcAft>
                <a:spcPts val="700"/>
              </a:spcAft>
              <a:defRPr sz="1500" b="1">
                <a:solidFill>
                  <a:srgbClr val="242B33"/>
                </a:solidFill>
              </a:defRPr>
            </a:pPr>
            <a:r>
              <a:rPr>
                <a:solidFill>
                  <a:srgbClr val="1F3A5F"/>
                </a:solidFill>
              </a:rPr>
              <a:t>Deduplicación e IDs hardcodeados (difieren prod/test)</a:t>
            </a:r>
          </a:p>
          <a:p>
            <a:pPr>
              <a:spcBef>
                <a:spcPts val="200"/>
              </a:spcBef>
              <a:spcAft>
                <a:spcPts val="700"/>
              </a:spcAft>
              <a:defRPr sz="1500" b="1">
                <a:solidFill>
                  <a:srgbClr val="242B33"/>
                </a:solidFill>
              </a:defRPr>
            </a:pPr>
            <a:r>
              <a:rPr>
                <a:solidFill>
                  <a:srgbClr val="1F3A5F"/>
                </a:solidFill>
              </a:rPr>
              <a:t>Selección de solicitud y movimiento de ubicación (estado irreversible en I/R)</a:t>
            </a:r>
          </a:p>
          <a:p>
            <a:pPr>
              <a:spcBef>
                <a:spcPts val="200"/>
              </a:spcBef>
              <a:spcAft>
                <a:spcPts val="700"/>
              </a:spcAft>
              <a:defRPr sz="1500" b="1">
                <a:solidFill>
                  <a:srgbClr val="242B33"/>
                </a:solidFill>
              </a:defRPr>
            </a:pPr>
            <a:r>
              <a:rPr>
                <a:solidFill>
                  <a:srgbClr val="1F3A5F"/>
                </a:solidFill>
              </a:rPr>
              <a:t>Triaje del inbox: el fallback humano debe ejecutarse y replicar el estado exacto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92240"/>
            <a:ext cx="112772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AA4AE"/>
                </a:solidFill>
              </a:defRPr>
            </a:pPr>
            <a:r>
              <a:t>QA Integración Connecteam → Odoo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09728" wrap="square"/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Brechas y recomendaciones</a:t>
            </a:r>
          </a:p>
          <a:p>
            <a:pPr>
              <a:defRPr sz="1200">
                <a:solidFill>
                  <a:srgbClr val="BFD2DE"/>
                </a:solidFill>
              </a:defRPr>
            </a:pPr>
            <a:r>
              <a:t>Para garantizar el flujo en producción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2E8B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737360"/>
          <a:ext cx="1106424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20640"/>
                <a:gridCol w="5943600"/>
              </a:tblGrid>
              <a:tr h="36576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Brecha</a:t>
                      </a:r>
                    </a:p>
                  </a:txBody>
                  <a:tcPr anchor="ctr" marL="73152" marR="73152" marT="27432" marB="27432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Recomendación</a:t>
                      </a:r>
                    </a:p>
                  </a:txBody>
                  <a:tcPr anchor="ctr" marL="73152" marR="73152" marT="27432" marB="27432">
                    <a:solidFill>
                      <a:srgbClr val="1F3A5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42B33"/>
                          </a:solidFill>
                        </a:defRPr>
                      </a:pPr>
                      <a:r>
                        <a:t>El formulario puede cambiar y romper el parsing en silencio</a:t>
                      </a:r>
                    </a:p>
                  </a:txBody>
                  <a:tcPr anchor="ctr" marL="73152" marR="73152" marT="27432" marB="27432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42B33"/>
                          </a:solidFill>
                        </a:defRPr>
                      </a:pPr>
                      <a:r>
                        <a:t>Validar el esquema del formulario antes de procesar</a:t>
                      </a:r>
                    </a:p>
                  </a:txBody>
                  <a:tcPr anchor="ctr" marL="73152" marR="73152" marT="27432" marB="27432">
                    <a:solidFill>
                      <a:srgbClr val="F7F9F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42B33"/>
                          </a:solidFill>
                        </a:defRPr>
                      </a:pPr>
                      <a:r>
                        <a:t>El sistema falla en silencio</a:t>
                      </a:r>
                    </a:p>
                  </a:txBody>
                  <a:tcPr anchor="ctr" marL="73152" marR="73152" marT="27432" marB="27432"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42B33"/>
                          </a:solidFill>
                        </a:defRPr>
                      </a:pPr>
                      <a:r>
                        <a:t>Monitoreo / alerta cuando una OT no produce efecto</a:t>
                      </a:r>
                    </a:p>
                  </a:txBody>
                  <a:tcPr anchor="ctr" marL="73152" marR="73152" marT="27432" marB="27432">
                    <a:solidFill>
                      <a:srgbClr val="EEF1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42B33"/>
                          </a:solidFill>
                        </a:defRPr>
                      </a:pPr>
                      <a:r>
                        <a:t>IDs hardcodeados difieren prod/test</a:t>
                      </a:r>
                    </a:p>
                  </a:txBody>
                  <a:tcPr anchor="ctr" marL="73152" marR="73152" marT="27432" marB="27432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42B33"/>
                          </a:solidFill>
                        </a:defRPr>
                      </a:pPr>
                      <a:r>
                        <a:t>Revalidar IDs en cada promoción o migración</a:t>
                      </a:r>
                    </a:p>
                  </a:txBody>
                  <a:tcPr anchor="ctr" marL="73152" marR="73152" marT="27432" marB="27432">
                    <a:solidFill>
                      <a:srgbClr val="F7F9F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42B33"/>
                          </a:solidFill>
                        </a:defRPr>
                      </a:pPr>
                      <a:r>
                        <a:t>El inbox depende de revisión humana</a:t>
                      </a:r>
                    </a:p>
                  </a:txBody>
                  <a:tcPr anchor="ctr" marL="73152" marR="73152" marT="27432" marB="27432"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42B33"/>
                          </a:solidFill>
                        </a:defRPr>
                      </a:pPr>
                      <a:r>
                        <a:t>Triaje disciplinado siguiendo el runbook</a:t>
                      </a:r>
                    </a:p>
                  </a:txBody>
                  <a:tcPr anchor="ctr" marL="73152" marR="73152" marT="27432" marB="27432">
                    <a:solidFill>
                      <a:srgbClr val="EEF1F5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4846320"/>
            <a:ext cx="1091153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700"/>
              </a:spcAft>
              <a:defRPr sz="1300" b="1">
                <a:solidFill>
                  <a:srgbClr val="242B33"/>
                </a:solidFill>
              </a:defRPr>
            </a:pPr>
            <a:r>
              <a:rPr>
                <a:solidFill>
                  <a:srgbClr val="1F3A5F"/>
                </a:solidFill>
              </a:rPr>
              <a:t>La lógica de negocio ya está blindada por las 68 pruebas. Las dos brechas prioritarias son: validar el formulario y tener observabilidad.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112772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AA4AE"/>
                </a:solidFill>
              </a:defRPr>
            </a:pPr>
            <a:r>
              <a:t>QA Integración Connecteam → Odoo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828800"/>
            <a:ext cx="12191695" cy="73152"/>
          </a:xfrm>
          <a:prstGeom prst="rect">
            <a:avLst/>
          </a:prstGeom>
          <a:solidFill>
            <a:srgbClr val="2E8B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103120"/>
            <a:ext cx="1054577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En síntesis</a:t>
            </a:r>
          </a:p>
          <a:p>
            <a:pPr>
              <a:spcAft>
                <a:spcPts val="800"/>
              </a:spcAft>
              <a:defRPr sz="1600">
                <a:solidFill>
                  <a:srgbClr val="D7E0E8"/>
                </a:solidFill>
              </a:defRPr>
            </a:pPr>
            <a:r>
              <a:t>•  77 pruebas automatizadas en 3 niveles, todas en verde</a:t>
            </a:r>
          </a:p>
          <a:p>
            <a:pPr>
              <a:spcAft>
                <a:spcPts val="800"/>
              </a:spcAft>
              <a:defRPr sz="1600">
                <a:solidFill>
                  <a:srgbClr val="D7E0E8"/>
                </a:solidFill>
              </a:defRPr>
            </a:pPr>
            <a:r>
              <a:t>•  Un bug oculto encontrado y corregido</a:t>
            </a:r>
          </a:p>
          <a:p>
            <a:pPr>
              <a:spcAft>
                <a:spcPts val="800"/>
              </a:spcAft>
              <a:defRPr sz="1600">
                <a:solidFill>
                  <a:srgbClr val="D7E0E8"/>
                </a:solidFill>
              </a:defRPr>
            </a:pPr>
            <a:r>
              <a:t>•  Validado contra el Odoo real, incluido el movimiento de equipos</a:t>
            </a:r>
          </a:p>
          <a:p>
            <a:pPr>
              <a:spcAft>
                <a:spcPts val="800"/>
              </a:spcAft>
              <a:defRPr sz="1600">
                <a:solidFill>
                  <a:srgbClr val="D7E0E8"/>
                </a:solidFill>
              </a:defRPr>
            </a:pPr>
            <a:r>
              <a:t>•  Manejo manual de excepciones documentado por etiqueta y por tipo de trabajo</a:t>
            </a:r>
          </a:p>
          <a:p>
            <a:pPr>
              <a:spcAft>
                <a:spcPts val="800"/>
              </a:spcAft>
              <a:defRPr sz="1600">
                <a:solidFill>
                  <a:srgbClr val="D7E0E8"/>
                </a:solidFill>
              </a:defRPr>
            </a:pPr>
            <a:r>
              <a:t>•  Dos prioridades para producción: validar el formulario y observabilidad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